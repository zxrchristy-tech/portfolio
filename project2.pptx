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1" r:id="rId5"/>
    <p:sldId id="262" r:id="rId6"/>
    <p:sldId id="260" r:id="rId7"/>
    <p:sldId id="263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杨昳" initials="杨昳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25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3" Type="http://schemas.openxmlformats.org/officeDocument/2006/relationships/image" Target="../media/image11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812740" y="6033763"/>
            <a:ext cx="2024686" cy="393263"/>
          </a:xfrm>
          <a:prstGeom prst="rect">
            <a:avLst/>
          </a:prstGeom>
        </p:spPr>
      </p:pic>
      <p:sp>
        <p:nvSpPr>
          <p:cNvPr id="7" name="灯片编号占位符 6"/>
          <p:cNvSpPr txBox="1"/>
          <p:nvPr userDrawn="1"/>
        </p:nvSpPr>
        <p:spPr>
          <a:xfrm>
            <a:off x="4724400" y="6173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fld id="{4A59DED9-0439-4A34-9BDA-DB3CFBD89583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灯片编号占位符 6"/>
          <p:cNvSpPr txBox="1"/>
          <p:nvPr userDrawn="1"/>
        </p:nvSpPr>
        <p:spPr>
          <a:xfrm>
            <a:off x="4724400" y="6173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fld id="{4A59DED9-0439-4A34-9BDA-DB3CFBD89583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812740" y="6033763"/>
            <a:ext cx="2024686" cy="393263"/>
          </a:xfrm>
          <a:prstGeom prst="rect">
            <a:avLst/>
          </a:prstGeom>
        </p:spPr>
      </p:pic>
      <p:sp>
        <p:nvSpPr>
          <p:cNvPr id="8" name="灯片编号占位符 6"/>
          <p:cNvSpPr txBox="1"/>
          <p:nvPr userDrawn="1"/>
        </p:nvSpPr>
        <p:spPr>
          <a:xfrm>
            <a:off x="4724400" y="6173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fld id="{4A59DED9-0439-4A34-9BDA-DB3CFBD89583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/>
          <a:srcRect b="7380"/>
          <a:stretch>
            <a:fillRect/>
          </a:stretch>
        </p:blipFill>
        <p:spPr>
          <a:xfrm>
            <a:off x="-2" y="-13648"/>
            <a:ext cx="2446987" cy="12628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812740" y="6033763"/>
            <a:ext cx="2024686" cy="393263"/>
          </a:xfrm>
          <a:prstGeom prst="rect">
            <a:avLst/>
          </a:prstGeom>
        </p:spPr>
      </p:pic>
      <p:sp>
        <p:nvSpPr>
          <p:cNvPr id="8" name="灯片编号占位符 6"/>
          <p:cNvSpPr txBox="1"/>
          <p:nvPr userDrawn="1"/>
        </p:nvSpPr>
        <p:spPr>
          <a:xfrm>
            <a:off x="4724400" y="6173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fld id="{4A59DED9-0439-4A34-9BDA-DB3CFBD89583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b="7380"/>
          <a:stretch>
            <a:fillRect/>
          </a:stretch>
        </p:blipFill>
        <p:spPr>
          <a:xfrm>
            <a:off x="-2" y="-13648"/>
            <a:ext cx="2446987" cy="12628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812740" y="6033763"/>
            <a:ext cx="2024686" cy="393263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0" y="-1"/>
            <a:ext cx="6606866" cy="940159"/>
            <a:chOff x="0" y="-1"/>
            <a:chExt cx="6606866" cy="785611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4"/>
            <a:srcRect b="7380"/>
            <a:stretch>
              <a:fillRect/>
            </a:stretch>
          </p:blipFill>
          <p:spPr>
            <a:xfrm>
              <a:off x="0" y="-1"/>
              <a:ext cx="4724400" cy="78561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 rotWithShape="1">
            <a:blip r:embed="rId5"/>
            <a:srcRect b="7380"/>
            <a:stretch>
              <a:fillRect/>
            </a:stretch>
          </p:blipFill>
          <p:spPr>
            <a:xfrm>
              <a:off x="2150777" y="-1"/>
              <a:ext cx="4456089" cy="785611"/>
            </a:xfrm>
            <a:prstGeom prst="rect">
              <a:avLst/>
            </a:prstGeom>
          </p:spPr>
        </p:pic>
      </p:grpSp>
      <p:sp>
        <p:nvSpPr>
          <p:cNvPr id="9" name="灯片编号占位符 6"/>
          <p:cNvSpPr txBox="1"/>
          <p:nvPr userDrawn="1"/>
        </p:nvSpPr>
        <p:spPr>
          <a:xfrm>
            <a:off x="4724400" y="6173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fld id="{4A59DED9-0439-4A34-9BDA-DB3CFBD89583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812740" y="6033763"/>
            <a:ext cx="2024686" cy="393263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0" y="-1"/>
            <a:ext cx="6722772" cy="940159"/>
            <a:chOff x="0" y="-1"/>
            <a:chExt cx="6722772" cy="785611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4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b="7380"/>
            <a:stretch>
              <a:fillRect/>
            </a:stretch>
          </p:blipFill>
          <p:spPr>
            <a:xfrm>
              <a:off x="0" y="-1"/>
              <a:ext cx="4533364" cy="78561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 rotWithShape="1"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b="7380"/>
            <a:stretch>
              <a:fillRect/>
            </a:stretch>
          </p:blipFill>
          <p:spPr>
            <a:xfrm>
              <a:off x="2266683" y="-1"/>
              <a:ext cx="4456089" cy="785611"/>
            </a:xfrm>
            <a:prstGeom prst="rect">
              <a:avLst/>
            </a:prstGeom>
          </p:spPr>
        </p:pic>
      </p:grpSp>
      <p:sp>
        <p:nvSpPr>
          <p:cNvPr id="9" name="灯片编号占位符 6"/>
          <p:cNvSpPr txBox="1"/>
          <p:nvPr userDrawn="1"/>
        </p:nvSpPr>
        <p:spPr>
          <a:xfrm>
            <a:off x="4724400" y="6173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fld id="{4A59DED9-0439-4A34-9BDA-DB3CFBD89583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1">
    <p:bg>
      <p:bgPr>
        <a:solidFill>
          <a:schemeClr val="bg1"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图片 7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9778" y="6018559"/>
            <a:ext cx="2038706" cy="571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812740" y="6033763"/>
            <a:ext cx="2024686" cy="393263"/>
          </a:xfrm>
          <a:prstGeom prst="rect">
            <a:avLst/>
          </a:prstGeom>
        </p:spPr>
      </p:pic>
      <p:sp>
        <p:nvSpPr>
          <p:cNvPr id="7" name="灯片编号占位符 6"/>
          <p:cNvSpPr txBox="1"/>
          <p:nvPr userDrawn="1"/>
        </p:nvSpPr>
        <p:spPr>
          <a:xfrm>
            <a:off x="4724400" y="6173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fld id="{4A59DED9-0439-4A34-9BDA-DB3CFBD89583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9778" y="6018559"/>
            <a:ext cx="2038706" cy="571500"/>
          </a:xfrm>
          <a:prstGeom prst="rect">
            <a:avLst/>
          </a:prstGeom>
        </p:spPr>
      </p:pic>
      <p:sp>
        <p:nvSpPr>
          <p:cNvPr id="6" name="灯片编号占位符 6"/>
          <p:cNvSpPr txBox="1"/>
          <p:nvPr userDrawn="1"/>
        </p:nvSpPr>
        <p:spPr>
          <a:xfrm>
            <a:off x="4724400" y="6173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fld id="{4A59DED9-0439-4A34-9BDA-DB3CFBD89583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alpha val="8400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 rot="786612">
            <a:off x="-44052" y="-274918"/>
            <a:ext cx="4679158" cy="1274052"/>
          </a:xfrm>
          <a:custGeom>
            <a:avLst/>
            <a:gdLst>
              <a:gd name="connsiteX0" fmla="*/ 0 w 4679158"/>
              <a:gd name="connsiteY0" fmla="*/ 810104 h 1274052"/>
              <a:gd name="connsiteX1" fmla="*/ 2262208 w 4679158"/>
              <a:gd name="connsiteY1" fmla="*/ 283247 h 1274052"/>
              <a:gd name="connsiteX2" fmla="*/ 4679158 w 4679158"/>
              <a:gd name="connsiteY2" fmla="*/ 0 h 1274052"/>
              <a:gd name="connsiteX3" fmla="*/ 4672324 w 4679158"/>
              <a:gd name="connsiteY3" fmla="*/ 68124 h 1274052"/>
              <a:gd name="connsiteX4" fmla="*/ 2017425 w 4679158"/>
              <a:gd name="connsiteY4" fmla="*/ 1274052 h 1274052"/>
              <a:gd name="connsiteX5" fmla="*/ 223067 w 4679158"/>
              <a:gd name="connsiteY5" fmla="*/ 925095 h 12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79158" h="1274052">
                <a:moveTo>
                  <a:pt x="0" y="810104"/>
                </a:moveTo>
                <a:lnTo>
                  <a:pt x="2262208" y="283247"/>
                </a:lnTo>
                <a:lnTo>
                  <a:pt x="4679158" y="0"/>
                </a:lnTo>
                <a:lnTo>
                  <a:pt x="4672324" y="68124"/>
                </a:lnTo>
                <a:cubicBezTo>
                  <a:pt x="4535662" y="745476"/>
                  <a:pt x="3399178" y="1274052"/>
                  <a:pt x="2017425" y="1274052"/>
                </a:cubicBezTo>
                <a:cubicBezTo>
                  <a:pt x="1326548" y="1274052"/>
                  <a:pt x="696990" y="1141908"/>
                  <a:pt x="223067" y="925095"/>
                </a:cubicBezTo>
                <a:close/>
              </a:path>
            </a:pathLst>
          </a:custGeom>
          <a:gradFill>
            <a:gsLst>
              <a:gs pos="100000">
                <a:srgbClr val="F53F2D">
                  <a:alpha val="0"/>
                </a:srgbClr>
              </a:gs>
              <a:gs pos="0">
                <a:schemeClr val="accent1">
                  <a:alpha val="8400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9398000" y="5829300"/>
            <a:ext cx="2794000" cy="1028700"/>
          </a:xfrm>
          <a:custGeom>
            <a:avLst/>
            <a:gdLst>
              <a:gd name="connsiteX0" fmla="*/ 2776747 w 2794000"/>
              <a:gd name="connsiteY0" fmla="*/ 0 h 1676400"/>
              <a:gd name="connsiteX1" fmla="*/ 2794000 w 2794000"/>
              <a:gd name="connsiteY1" fmla="*/ 438 h 1676400"/>
              <a:gd name="connsiteX2" fmla="*/ 2794000 w 2794000"/>
              <a:gd name="connsiteY2" fmla="*/ 1676400 h 1676400"/>
              <a:gd name="connsiteX3" fmla="*/ 55763 w 2794000"/>
              <a:gd name="connsiteY3" fmla="*/ 1676400 h 1676400"/>
              <a:gd name="connsiteX4" fmla="*/ 14336 w 2794000"/>
              <a:gd name="connsiteY4" fmla="*/ 1539835 h 1676400"/>
              <a:gd name="connsiteX5" fmla="*/ 0 w 2794000"/>
              <a:gd name="connsiteY5" fmla="*/ 1397000 h 1676400"/>
              <a:gd name="connsiteX6" fmla="*/ 2776747 w 2794000"/>
              <a:gd name="connsiteY6" fmla="*/ 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4000" h="1676400">
                <a:moveTo>
                  <a:pt x="2776747" y="0"/>
                </a:moveTo>
                <a:lnTo>
                  <a:pt x="2794000" y="438"/>
                </a:lnTo>
                <a:lnTo>
                  <a:pt x="2794000" y="1676400"/>
                </a:lnTo>
                <a:lnTo>
                  <a:pt x="55763" y="1676400"/>
                </a:lnTo>
                <a:lnTo>
                  <a:pt x="14336" y="1539835"/>
                </a:lnTo>
                <a:cubicBezTo>
                  <a:pt x="4856" y="1492872"/>
                  <a:pt x="0" y="1445221"/>
                  <a:pt x="0" y="1397000"/>
                </a:cubicBezTo>
                <a:cubicBezTo>
                  <a:pt x="0" y="625458"/>
                  <a:pt x="1243192" y="0"/>
                  <a:pt x="2776747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F53F2D">
                  <a:alpha val="0"/>
                </a:srgbClr>
              </a:gs>
              <a:gs pos="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灯片编号占位符 6"/>
          <p:cNvSpPr txBox="1"/>
          <p:nvPr userDrawn="1"/>
        </p:nvSpPr>
        <p:spPr>
          <a:xfrm>
            <a:off x="4724400" y="6173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fld id="{4A59DED9-0439-4A34-9BDA-DB3CFBD89583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7843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版式1">
    <p:bg>
      <p:bgPr>
        <a:solidFill>
          <a:schemeClr val="bg1"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图片 7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alphaModFix amt="51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9951" b="6371"/>
          <a:stretch>
            <a:fillRect/>
          </a:stretch>
        </p:blipFill>
        <p:spPr>
          <a:xfrm>
            <a:off x="343301" y="4690540"/>
            <a:ext cx="12150964" cy="233371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alphaModFix amt="51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9951" b="6371"/>
          <a:stretch>
            <a:fillRect/>
          </a:stretch>
        </p:blipFill>
        <p:spPr>
          <a:xfrm>
            <a:off x="190901" y="4538140"/>
            <a:ext cx="12150964" cy="233371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9778" y="6018559"/>
            <a:ext cx="2038706" cy="571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9812740" y="6033763"/>
            <a:ext cx="2024686" cy="393263"/>
          </a:xfrm>
          <a:prstGeom prst="rect">
            <a:avLst/>
          </a:prstGeom>
        </p:spPr>
      </p:pic>
      <p:sp>
        <p:nvSpPr>
          <p:cNvPr id="11" name="灯片编号占位符 6"/>
          <p:cNvSpPr txBox="1"/>
          <p:nvPr userDrawn="1"/>
        </p:nvSpPr>
        <p:spPr>
          <a:xfrm>
            <a:off x="4724400" y="6173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fld id="{4A59DED9-0439-4A34-9BDA-DB3CFBD89583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055" indent="-186055" algn="l" defTabSz="742950" rtl="0" eaLnBrk="1" latinLnBrk="0" hangingPunct="1">
        <a:lnSpc>
          <a:spcPct val="90000"/>
        </a:lnSpc>
        <a:spcBef>
          <a:spcPts val="81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9005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671955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2043430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414905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786380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3157855" indent="-186055" algn="l" defTabSz="74295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19.png"/><Relationship Id="rId7" Type="http://schemas.openxmlformats.org/officeDocument/2006/relationships/image" Target="../media/image18.jpeg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24.jpeg"/><Relationship Id="rId7" Type="http://schemas.openxmlformats.org/officeDocument/2006/relationships/image" Target="../media/image23.png"/><Relationship Id="rId6" Type="http://schemas.openxmlformats.org/officeDocument/2006/relationships/image" Target="../media/image18.jpeg"/><Relationship Id="rId5" Type="http://schemas.openxmlformats.org/officeDocument/2006/relationships/image" Target="../media/image15.png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19.png"/><Relationship Id="rId1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27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26.png"/><Relationship Id="rId4" Type="http://schemas.openxmlformats.org/officeDocument/2006/relationships/tags" Target="../tags/tag3.xml"/><Relationship Id="rId3" Type="http://schemas.openxmlformats.org/officeDocument/2006/relationships/image" Target="../media/image25.jpeg"/><Relationship Id="rId21" Type="http://schemas.openxmlformats.org/officeDocument/2006/relationships/slideLayout" Target="../slideLayouts/slideLayout4.xml"/><Relationship Id="rId20" Type="http://schemas.openxmlformats.org/officeDocument/2006/relationships/image" Target="../media/image32.png"/><Relationship Id="rId2" Type="http://schemas.openxmlformats.org/officeDocument/2006/relationships/tags" Target="../tags/tag2.xml"/><Relationship Id="rId19" Type="http://schemas.openxmlformats.org/officeDocument/2006/relationships/tags" Target="../tags/tag12.xml"/><Relationship Id="rId18" Type="http://schemas.openxmlformats.org/officeDocument/2006/relationships/image" Target="../media/image31.png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image" Target="../media/image30.png"/><Relationship Id="rId14" Type="http://schemas.openxmlformats.org/officeDocument/2006/relationships/tags" Target="../tags/tag9.xml"/><Relationship Id="rId13" Type="http://schemas.openxmlformats.org/officeDocument/2006/relationships/image" Target="../media/image29.pn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28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39.jpe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2.jpeg"/><Relationship Id="rId1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image" Target="../media/image42.png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41.png"/><Relationship Id="rId4" Type="http://schemas.openxmlformats.org/officeDocument/2006/relationships/tags" Target="../tags/tag15.xml"/><Relationship Id="rId3" Type="http://schemas.openxmlformats.org/officeDocument/2006/relationships/image" Target="../media/image40.jpeg"/><Relationship Id="rId21" Type="http://schemas.openxmlformats.org/officeDocument/2006/relationships/slideLayout" Target="../slideLayouts/slideLayout4.xml"/><Relationship Id="rId20" Type="http://schemas.openxmlformats.org/officeDocument/2006/relationships/image" Target="../media/image46.png"/><Relationship Id="rId2" Type="http://schemas.openxmlformats.org/officeDocument/2006/relationships/tags" Target="../tags/tag14.xml"/><Relationship Id="rId19" Type="http://schemas.openxmlformats.org/officeDocument/2006/relationships/tags" Target="../tags/tag24.xml"/><Relationship Id="rId18" Type="http://schemas.openxmlformats.org/officeDocument/2006/relationships/image" Target="../media/image29.png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image" Target="../media/image45.png"/><Relationship Id="rId14" Type="http://schemas.openxmlformats.org/officeDocument/2006/relationships/tags" Target="../tags/tag21.xml"/><Relationship Id="rId13" Type="http://schemas.openxmlformats.org/officeDocument/2006/relationships/image" Target="../media/image44.png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image" Target="../media/image43.png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7579" y="0"/>
            <a:ext cx="1997075" cy="6858000"/>
            <a:chOff x="67579" y="0"/>
            <a:chExt cx="1997075" cy="6858000"/>
          </a:xfrm>
        </p:grpSpPr>
        <p:sp>
          <p:nvSpPr>
            <p:cNvPr id="3" name="Freeform 4"/>
            <p:cNvSpPr/>
            <p:nvPr/>
          </p:nvSpPr>
          <p:spPr>
            <a:xfrm flipV="1">
              <a:off x="365759" y="0"/>
              <a:ext cx="78377" cy="6858000"/>
            </a:xfrm>
            <a:prstGeom prst="rect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67579" y="386715"/>
              <a:ext cx="1997075" cy="431800"/>
            </a:xfrm>
            <a:prstGeom prst="homePlate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品牌市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场占比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67580" y="989027"/>
              <a:ext cx="1587133" cy="432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用户</a:t>
              </a:r>
              <a:r>
                <a:rPr kumimoji="0" lang="zh-CN" altLang="en-US" sz="1400" b="1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画像</a:t>
              </a:r>
              <a:endPara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Freeform 4"/>
            <p:cNvSpPr/>
            <p:nvPr/>
          </p:nvSpPr>
          <p:spPr>
            <a:xfrm>
              <a:off x="67579" y="1591603"/>
              <a:ext cx="1587133" cy="432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竞品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分析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701637" y="340966"/>
            <a:ext cx="9296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北美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地区扫地机器人品牌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市场占比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25870" y="1226185"/>
            <a:ext cx="49701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Eureka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在北美扫地机器人市场占比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19%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，位居第一，其产品以高效清洁和性价比高受到消费者青睐。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北美市占比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9055" y="2172970"/>
            <a:ext cx="4505325" cy="3739515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6849745" y="2023745"/>
            <a:ext cx="4297045" cy="1639570"/>
            <a:chOff x="11317" y="3187"/>
            <a:chExt cx="7002" cy="2911"/>
          </a:xfrm>
        </p:grpSpPr>
        <p:pic>
          <p:nvPicPr>
            <p:cNvPr id="30" name="图片 29" descr="eureka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19" y="3187"/>
              <a:ext cx="2611" cy="1498"/>
            </a:xfrm>
            <a:prstGeom prst="rect">
              <a:avLst/>
            </a:prstGeom>
          </p:spPr>
        </p:pic>
        <p:grpSp>
          <p:nvGrpSpPr>
            <p:cNvPr id="33" name="组合 32"/>
            <p:cNvGrpSpPr/>
            <p:nvPr/>
          </p:nvGrpSpPr>
          <p:grpSpPr>
            <a:xfrm>
              <a:off x="11317" y="3310"/>
              <a:ext cx="7002" cy="2789"/>
              <a:chOff x="11317" y="3310"/>
              <a:chExt cx="7002" cy="2789"/>
            </a:xfrm>
          </p:grpSpPr>
          <p:pic>
            <p:nvPicPr>
              <p:cNvPr id="31" name="图片 30" descr="eureka3"/>
              <p:cNvPicPr>
                <a:picLocks noChangeAspect="1"/>
              </p:cNvPicPr>
              <p:nvPr/>
            </p:nvPicPr>
            <p:blipFill>
              <a:blip r:embed="rId3"/>
              <a:srcRect l="232" t="45945"/>
              <a:stretch>
                <a:fillRect/>
              </a:stretch>
            </p:blipFill>
            <p:spPr>
              <a:xfrm>
                <a:off x="13519" y="4685"/>
                <a:ext cx="2611" cy="1415"/>
              </a:xfrm>
              <a:prstGeom prst="rect">
                <a:avLst/>
              </a:prstGeom>
            </p:spPr>
          </p:pic>
          <p:pic>
            <p:nvPicPr>
              <p:cNvPr id="28" name="图片 27" descr="eureka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17" y="3310"/>
                <a:ext cx="2389" cy="2389"/>
              </a:xfrm>
              <a:prstGeom prst="rect">
                <a:avLst/>
              </a:prstGeom>
            </p:spPr>
          </p:pic>
          <p:pic>
            <p:nvPicPr>
              <p:cNvPr id="29" name="图片 28" descr="eureka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77" y="3357"/>
                <a:ext cx="2342" cy="2342"/>
              </a:xfrm>
              <a:prstGeom prst="rect">
                <a:avLst/>
              </a:prstGeom>
            </p:spPr>
          </p:pic>
        </p:grpSp>
      </p:grpSp>
      <p:sp>
        <p:nvSpPr>
          <p:cNvPr id="32" name="文本框 31"/>
          <p:cNvSpPr txBox="1"/>
          <p:nvPr/>
        </p:nvSpPr>
        <p:spPr>
          <a:xfrm>
            <a:off x="6325870" y="3784600"/>
            <a:ext cx="49701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LG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和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Shark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分别占比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15%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Dyson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以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12%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紧随其后，这些品牌通过持续创新和品质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升级赢得市场份额。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5" name="图片 34" descr="shar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2615" y="4568825"/>
            <a:ext cx="1487170" cy="1496695"/>
          </a:xfrm>
          <a:prstGeom prst="rect">
            <a:avLst/>
          </a:prstGeom>
        </p:spPr>
      </p:pic>
      <p:pic>
        <p:nvPicPr>
          <p:cNvPr id="36" name="图片 35" descr="L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9570" y="4568825"/>
            <a:ext cx="1503045" cy="1503045"/>
          </a:xfrm>
          <a:prstGeom prst="rect">
            <a:avLst/>
          </a:prstGeom>
        </p:spPr>
      </p:pic>
      <p:pic>
        <p:nvPicPr>
          <p:cNvPr id="37" name="图片 36" descr="Dys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9785" y="4568825"/>
            <a:ext cx="1496695" cy="1496695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1828800" y="1724660"/>
            <a:ext cx="325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2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扫地机器人品牌在美国的市场份额占比图</a:t>
            </a:r>
            <a:endParaRPr kumimoji="0" lang="zh-CN" altLang="en-US" sz="12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7579" y="0"/>
            <a:ext cx="1997075" cy="6858000"/>
            <a:chOff x="67579" y="0"/>
            <a:chExt cx="1997075" cy="6858000"/>
          </a:xfrm>
        </p:grpSpPr>
        <p:sp>
          <p:nvSpPr>
            <p:cNvPr id="3" name="Freeform 4"/>
            <p:cNvSpPr/>
            <p:nvPr/>
          </p:nvSpPr>
          <p:spPr>
            <a:xfrm flipV="1">
              <a:off x="365759" y="0"/>
              <a:ext cx="78377" cy="6858000"/>
            </a:xfrm>
            <a:prstGeom prst="rect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67579" y="386715"/>
              <a:ext cx="1997075" cy="431800"/>
            </a:xfrm>
            <a:prstGeom prst="homePlate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品牌市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场占比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67580" y="989027"/>
              <a:ext cx="1587133" cy="432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用户</a:t>
              </a:r>
              <a:r>
                <a:rPr kumimoji="0" lang="zh-CN" altLang="en-US" sz="1400" b="1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画像</a:t>
              </a:r>
              <a:endPara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Freeform 4"/>
            <p:cNvSpPr/>
            <p:nvPr/>
          </p:nvSpPr>
          <p:spPr>
            <a:xfrm>
              <a:off x="67579" y="1591603"/>
              <a:ext cx="1587133" cy="432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竞品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分析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701637" y="340966"/>
            <a:ext cx="9296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欧洲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地区扫地机器人品牌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市场占比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25870" y="1226185"/>
            <a:ext cx="53193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Dyson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在西欧扫地机器人市场占比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25%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，处于领先地位，其产品以强大的吸力和高效的清洁能力受到消费者的青睐。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C:/Users/suhuixin/Downloads/清洁市场/欧洲.PNG欧洲"/>
          <p:cNvPicPr>
            <a:picLocks noChangeAspect="1"/>
          </p:cNvPicPr>
          <p:nvPr/>
        </p:nvPicPr>
        <p:blipFill>
          <a:blip r:embed="rId1"/>
          <a:srcRect l="246" r="246"/>
          <a:stretch>
            <a:fillRect/>
          </a:stretch>
        </p:blipFill>
        <p:spPr>
          <a:xfrm>
            <a:off x="1329055" y="2172970"/>
            <a:ext cx="4505325" cy="373951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6325870" y="3707765"/>
            <a:ext cx="53193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LG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占比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12%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Eureka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占比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10%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Bosch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和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Samsung</a:t>
            </a: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分别占比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6%</a:t>
            </a:r>
            <a:endParaRPr kumimoji="0" lang="en-US" altLang="zh-CN" sz="14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828800" y="1724660"/>
            <a:ext cx="325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2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扫地机器人品牌在</a:t>
            </a:r>
            <a:r>
              <a:rPr kumimoji="0" lang="zh-CN" altLang="en-US" sz="12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欧洲的市场份额占比图</a:t>
            </a:r>
            <a:endParaRPr kumimoji="0" lang="zh-CN" altLang="en-US" sz="12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9" name="图片 8" descr="Dy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125" y="2065020"/>
            <a:ext cx="1518285" cy="1518285"/>
          </a:xfrm>
          <a:prstGeom prst="rect">
            <a:avLst/>
          </a:prstGeom>
        </p:spPr>
      </p:pic>
      <p:pic>
        <p:nvPicPr>
          <p:cNvPr id="10" name="图片 9" descr="dysonx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10" y="2065020"/>
            <a:ext cx="1517650" cy="1517650"/>
          </a:xfrm>
          <a:prstGeom prst="rect">
            <a:avLst/>
          </a:prstGeom>
        </p:spPr>
      </p:pic>
      <p:pic>
        <p:nvPicPr>
          <p:cNvPr id="11" name="图片 10" descr="dysonx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5060" y="2065020"/>
            <a:ext cx="1506855" cy="150685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6719570" y="4568825"/>
            <a:ext cx="4840605" cy="1236345"/>
            <a:chOff x="10582" y="7195"/>
            <a:chExt cx="9430" cy="2366"/>
          </a:xfrm>
        </p:grpSpPr>
        <p:pic>
          <p:nvPicPr>
            <p:cNvPr id="35" name="图片 34" descr="C:/Users/suhuixin/Downloads/清洁市场/eureka.pngeureka"/>
            <p:cNvPicPr>
              <a:picLocks noChangeAspect="1"/>
            </p:cNvPicPr>
            <p:nvPr/>
          </p:nvPicPr>
          <p:blipFill>
            <a:blip r:embed="rId5"/>
            <a:srcRect l="318" r="318"/>
            <a:stretch>
              <a:fillRect/>
            </a:stretch>
          </p:blipFill>
          <p:spPr>
            <a:xfrm>
              <a:off x="12949" y="7195"/>
              <a:ext cx="2342" cy="2357"/>
            </a:xfrm>
            <a:prstGeom prst="rect">
              <a:avLst/>
            </a:prstGeom>
          </p:spPr>
        </p:pic>
        <p:pic>
          <p:nvPicPr>
            <p:cNvPr id="36" name="图片 35" descr="L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82" y="7195"/>
              <a:ext cx="2367" cy="2367"/>
            </a:xfrm>
            <a:prstGeom prst="rect">
              <a:avLst/>
            </a:prstGeom>
          </p:spPr>
        </p:pic>
        <p:pic>
          <p:nvPicPr>
            <p:cNvPr id="37" name="图片 36" descr="C:/Users/suhuixin/Downloads/清洁市场/bosch.pngbosch"/>
            <p:cNvPicPr>
              <a:picLocks noChangeAspect="1"/>
            </p:cNvPicPr>
            <p:nvPr/>
          </p:nvPicPr>
          <p:blipFill>
            <a:blip r:embed="rId7"/>
            <a:srcRect l="488" r="488"/>
            <a:stretch>
              <a:fillRect/>
            </a:stretch>
          </p:blipFill>
          <p:spPr>
            <a:xfrm>
              <a:off x="15291" y="7195"/>
              <a:ext cx="2357" cy="2357"/>
            </a:xfrm>
            <a:prstGeom prst="rect">
              <a:avLst/>
            </a:prstGeom>
          </p:spPr>
        </p:pic>
        <p:pic>
          <p:nvPicPr>
            <p:cNvPr id="12" name="图片 11" descr="samsu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648" y="7197"/>
              <a:ext cx="2364" cy="23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7579" y="0"/>
            <a:ext cx="1884045" cy="6858000"/>
            <a:chOff x="67579" y="0"/>
            <a:chExt cx="1884045" cy="6858000"/>
          </a:xfrm>
        </p:grpSpPr>
        <p:sp>
          <p:nvSpPr>
            <p:cNvPr id="6" name="Freeform 4"/>
            <p:cNvSpPr/>
            <p:nvPr/>
          </p:nvSpPr>
          <p:spPr>
            <a:xfrm flipV="1">
              <a:off x="365759" y="0"/>
              <a:ext cx="78377" cy="6858000"/>
            </a:xfrm>
            <a:prstGeom prst="rect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" name="Freeform 4"/>
            <p:cNvSpPr/>
            <p:nvPr/>
          </p:nvSpPr>
          <p:spPr>
            <a:xfrm>
              <a:off x="67579" y="137160"/>
              <a:ext cx="1428115" cy="26162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品牌市场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占比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" name="Freeform 4"/>
            <p:cNvSpPr/>
            <p:nvPr/>
          </p:nvSpPr>
          <p:spPr>
            <a:xfrm>
              <a:off x="67579" y="557530"/>
              <a:ext cx="1884045" cy="361950"/>
            </a:xfrm>
            <a:prstGeom prst="homePlate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用户画像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4"/>
            <p:cNvSpPr/>
            <p:nvPr/>
          </p:nvSpPr>
          <p:spPr>
            <a:xfrm>
              <a:off x="67579" y="1080770"/>
              <a:ext cx="1427480" cy="29718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竞品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分析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737360" y="1149985"/>
            <a:ext cx="391668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用户群体集中在千禧一代（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1981-1996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）</a:t>
            </a:r>
            <a:endParaRPr kumimoji="0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521366" y="260956"/>
            <a:ext cx="91176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目标用户画像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美国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55510" y="1129030"/>
            <a:ext cx="438340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400" b="1" spc="1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Nuclear family</a:t>
            </a:r>
            <a:r>
              <a:rPr lang="zh-CN" altLang="en-US" sz="1400" b="1" spc="1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在购买家电上占有较高比例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520578" y="1627300"/>
            <a:ext cx="5521357" cy="2069465"/>
            <a:chOff x="696" y="3193"/>
            <a:chExt cx="8848" cy="3444"/>
          </a:xfrm>
        </p:grpSpPr>
        <p:pic>
          <p:nvPicPr>
            <p:cNvPr id="18" name="图片 17" descr="C:/Users/suhuixin/Downloads/清洁市场/用户画像us/千禧.jpg千禧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rcRect l="27021" r="27021"/>
            <a:stretch>
              <a:fillRect/>
            </a:stretch>
          </p:blipFill>
          <p:spPr>
            <a:xfrm>
              <a:off x="696" y="3655"/>
              <a:ext cx="1610" cy="2424"/>
            </a:xfrm>
            <a:prstGeom prst="roundRect">
              <a:avLst/>
            </a:prstGeom>
          </p:spPr>
        </p:pic>
        <p:pic>
          <p:nvPicPr>
            <p:cNvPr id="13" name="图片 12" descr="年龄层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381" y="3193"/>
              <a:ext cx="7163" cy="3444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>
            <p:custDataLst>
              <p:tags r:id="rId6"/>
            </p:custDataLst>
          </p:nvPr>
        </p:nvGrpSpPr>
        <p:grpSpPr>
          <a:xfrm>
            <a:off x="520774" y="4351114"/>
            <a:ext cx="5517141" cy="2111893"/>
            <a:chOff x="701" y="3100"/>
            <a:chExt cx="8771" cy="3410"/>
          </a:xfrm>
        </p:grpSpPr>
        <p:pic>
          <p:nvPicPr>
            <p:cNvPr id="21" name="图片 20" descr="C:/Users/suhuixin/Downloads/清洁市场/用户画像us/学历.png学历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rcRect t="721" b="721"/>
            <a:stretch>
              <a:fillRect/>
            </a:stretch>
          </p:blipFill>
          <p:spPr>
            <a:xfrm>
              <a:off x="701" y="3456"/>
              <a:ext cx="1557" cy="2342"/>
            </a:xfrm>
            <a:prstGeom prst="roundRect">
              <a:avLst/>
            </a:prstGeom>
          </p:spPr>
        </p:pic>
        <p:pic>
          <p:nvPicPr>
            <p:cNvPr id="25" name="图片 24" descr="C:/Users/suhuixin/Downloads/清洁市场/用户画像us/学历水平.png学历水平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rcRect l="7" t="465" r="-7" b="465"/>
            <a:stretch>
              <a:fillRect/>
            </a:stretch>
          </p:blipFill>
          <p:spPr>
            <a:xfrm>
              <a:off x="2380" y="3100"/>
              <a:ext cx="7092" cy="3410"/>
            </a:xfrm>
            <a:prstGeom prst="rect">
              <a:avLst/>
            </a:prstGeom>
          </p:spPr>
        </p:pic>
      </p:grpSp>
      <p:sp>
        <p:nvSpPr>
          <p:cNvPr id="27" name="文本框 26"/>
          <p:cNvSpPr txBox="1"/>
          <p:nvPr/>
        </p:nvSpPr>
        <p:spPr>
          <a:xfrm>
            <a:off x="1495425" y="3816985"/>
            <a:ext cx="391668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400" b="1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学历水平普遍较高，中高收入人群占比较大</a:t>
            </a:r>
            <a:endParaRPr kumimoji="0" lang="zh-CN" altLang="en-US" sz="1400" b="1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255510" y="3822700"/>
            <a:ext cx="438340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较大部分目标群体家里有养宠物的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需求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9" name="组合 28"/>
          <p:cNvGrpSpPr/>
          <p:nvPr>
            <p:custDataLst>
              <p:tags r:id="rId11"/>
            </p:custDataLst>
          </p:nvPr>
        </p:nvGrpSpPr>
        <p:grpSpPr>
          <a:xfrm>
            <a:off x="6608445" y="1597660"/>
            <a:ext cx="5475179" cy="2069465"/>
            <a:chOff x="1032" y="3187"/>
            <a:chExt cx="8774" cy="3444"/>
          </a:xfrm>
        </p:grpSpPr>
        <p:pic>
          <p:nvPicPr>
            <p:cNvPr id="49" name="图片 48" descr="C:/Users/suhuixin/Downloads/清洁市场/用户画像us/nuclear.pngnuclear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rcRect t="2110" b="2110"/>
            <a:stretch>
              <a:fillRect/>
            </a:stretch>
          </p:blipFill>
          <p:spPr>
            <a:xfrm>
              <a:off x="1032" y="3781"/>
              <a:ext cx="1611" cy="2424"/>
            </a:xfrm>
            <a:prstGeom prst="roundRect">
              <a:avLst/>
            </a:prstGeom>
          </p:spPr>
        </p:pic>
        <p:pic>
          <p:nvPicPr>
            <p:cNvPr id="50" name="图片 49" descr="C:/Users/suhuixin/Downloads/清洁市场/用户画像us/nuclear family.pngnuclear family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rcRect t="656" b="656"/>
            <a:stretch>
              <a:fillRect/>
            </a:stretch>
          </p:blipFill>
          <p:spPr>
            <a:xfrm>
              <a:off x="2643" y="3187"/>
              <a:ext cx="7163" cy="3444"/>
            </a:xfrm>
            <a:prstGeom prst="rect">
              <a:avLst/>
            </a:prstGeom>
          </p:spPr>
        </p:pic>
      </p:grpSp>
      <p:grpSp>
        <p:nvGrpSpPr>
          <p:cNvPr id="51" name="组合 50"/>
          <p:cNvGrpSpPr/>
          <p:nvPr>
            <p:custDataLst>
              <p:tags r:id="rId16"/>
            </p:custDataLst>
          </p:nvPr>
        </p:nvGrpSpPr>
        <p:grpSpPr>
          <a:xfrm>
            <a:off x="6561968" y="4360340"/>
            <a:ext cx="5521357" cy="2069465"/>
            <a:chOff x="696" y="3193"/>
            <a:chExt cx="8848" cy="3444"/>
          </a:xfrm>
        </p:grpSpPr>
        <p:pic>
          <p:nvPicPr>
            <p:cNvPr id="52" name="图片 51" descr="C:/Users/suhuixin/Downloads/清洁市场/用户画像us/宠物1.png宠物1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rcRect l="-31" t="2019" r="31" b="2019"/>
            <a:stretch>
              <a:fillRect/>
            </a:stretch>
          </p:blipFill>
          <p:spPr>
            <a:xfrm>
              <a:off x="696" y="3655"/>
              <a:ext cx="1610" cy="2424"/>
            </a:xfrm>
            <a:prstGeom prst="roundRect">
              <a:avLst/>
            </a:prstGeom>
          </p:spPr>
        </p:pic>
        <p:pic>
          <p:nvPicPr>
            <p:cNvPr id="53" name="图片 52" descr="C:/Users/suhuixin/Downloads/清洁市场/用户画像us/宠物.png宠物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rcRect t="1005" b="1005"/>
            <a:stretch>
              <a:fillRect/>
            </a:stretch>
          </p:blipFill>
          <p:spPr>
            <a:xfrm>
              <a:off x="2381" y="3193"/>
              <a:ext cx="7163" cy="344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功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85" y="1427480"/>
            <a:ext cx="3166110" cy="181292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7579" y="0"/>
            <a:ext cx="1728470" cy="6858000"/>
            <a:chOff x="67579" y="0"/>
            <a:chExt cx="1728470" cy="6858000"/>
          </a:xfrm>
        </p:grpSpPr>
        <p:sp>
          <p:nvSpPr>
            <p:cNvPr id="6" name="Freeform 4"/>
            <p:cNvSpPr/>
            <p:nvPr/>
          </p:nvSpPr>
          <p:spPr>
            <a:xfrm flipV="1">
              <a:off x="365759" y="0"/>
              <a:ext cx="78377" cy="6858000"/>
            </a:xfrm>
            <a:prstGeom prst="rect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" name="Freeform 4"/>
            <p:cNvSpPr/>
            <p:nvPr/>
          </p:nvSpPr>
          <p:spPr>
            <a:xfrm>
              <a:off x="67579" y="137160"/>
              <a:ext cx="1302385" cy="18542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品牌市场</a:t>
              </a: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占比</a:t>
              </a:r>
              <a:endPara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" name="Freeform 4"/>
            <p:cNvSpPr/>
            <p:nvPr/>
          </p:nvSpPr>
          <p:spPr>
            <a:xfrm>
              <a:off x="67579" y="408940"/>
              <a:ext cx="1728470" cy="287655"/>
            </a:xfrm>
            <a:prstGeom prst="homePlate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用户画像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4"/>
            <p:cNvSpPr/>
            <p:nvPr/>
          </p:nvSpPr>
          <p:spPr>
            <a:xfrm>
              <a:off x="67579" y="798195"/>
              <a:ext cx="1128395" cy="18161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竞品</a:t>
              </a: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分析</a:t>
              </a:r>
              <a:endPara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2521366" y="260956"/>
            <a:ext cx="91176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目标用户需求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&amp;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关注点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美国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0585" y="5789295"/>
            <a:ext cx="284035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·statista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上统计的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us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用户关于智能家居的态度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 rot="0">
            <a:off x="660400" y="3272072"/>
            <a:ext cx="11209020" cy="307423"/>
            <a:chOff x="677147" y="3181479"/>
            <a:chExt cx="11208910" cy="307418"/>
          </a:xfrm>
        </p:grpSpPr>
        <p:sp>
          <p:nvSpPr>
            <p:cNvPr id="16" name="五边形 15"/>
            <p:cNvSpPr/>
            <p:nvPr/>
          </p:nvSpPr>
          <p:spPr>
            <a:xfrm>
              <a:off x="677147" y="3190452"/>
              <a:ext cx="3346417" cy="298445"/>
            </a:xfrm>
            <a:prstGeom prst="homePlate">
              <a:avLst/>
            </a:prstGeom>
            <a:blipFill>
              <a:blip r:embed="rId2"/>
              <a:stretch>
                <a:fillRect/>
              </a:stretch>
            </a:blipFill>
          </p:spPr>
          <p:txBody>
            <a:bodyPr wrap="square">
              <a:noAutofit/>
            </a:bodyPr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zh-TW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注重产品的功能与智能化</a:t>
              </a:r>
              <a:endParaRPr kumimoji="0" lang="zh-CN" altLang="zh-TW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>
              <a:off x="4125683" y="3181676"/>
              <a:ext cx="3718739" cy="306699"/>
            </a:xfrm>
            <a:prstGeom prst="chevron">
              <a:avLst/>
            </a:prstGeom>
            <a:blipFill>
              <a:blip r:embed="rId2"/>
              <a:stretch>
                <a:fillRect/>
              </a:stretch>
            </a:blipFill>
          </p:spPr>
          <p:txBody>
            <a:bodyPr wrap="square">
              <a:spAutoFit/>
            </a:bodyPr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偏向考虑性价比高的产品</a:t>
              </a:r>
              <a:endPara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燕尾形 25"/>
            <p:cNvSpPr/>
            <p:nvPr/>
          </p:nvSpPr>
          <p:spPr>
            <a:xfrm>
              <a:off x="7907435" y="3181479"/>
              <a:ext cx="3978622" cy="306700"/>
            </a:xfrm>
            <a:prstGeom prst="chevron">
              <a:avLst/>
            </a:prstGeom>
            <a:blipFill>
              <a:blip r:embed="rId2"/>
              <a:stretch>
                <a:fillRect/>
              </a:stretch>
            </a:blipFill>
          </p:spPr>
          <p:txBody>
            <a:bodyPr wrap="square">
              <a:spAutoFit/>
            </a:bodyPr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毛发清理需求较明显</a:t>
              </a:r>
              <a:endPara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7" name="图片 26" descr="智能化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3578860"/>
            <a:ext cx="3460750" cy="230187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75310" y="1109345"/>
            <a:ext cx="343154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·Answer the Public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上关于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vacuum cleaner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的热搜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词云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3" name="图片 32" descr="性价比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3652520"/>
            <a:ext cx="3741420" cy="2159000"/>
          </a:xfrm>
          <a:prstGeom prst="rect">
            <a:avLst/>
          </a:prstGeom>
        </p:spPr>
      </p:pic>
      <p:pic>
        <p:nvPicPr>
          <p:cNvPr id="35" name="图片 34" descr="性价比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660" y="1456690"/>
            <a:ext cx="3571240" cy="178054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4498975" y="5789295"/>
            <a:ext cx="323723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statista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统计，美国目前面临的最大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挑战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409440" y="1099820"/>
            <a:ext cx="284035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·statista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上统计的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us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用户最关心的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10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大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问题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8" name="图片 37" descr="宠物清理"/>
          <p:cNvPicPr>
            <a:picLocks noChangeAspect="1"/>
          </p:cNvPicPr>
          <p:nvPr/>
        </p:nvPicPr>
        <p:blipFill>
          <a:blip r:embed="rId6"/>
          <a:srcRect r="30224"/>
          <a:stretch>
            <a:fillRect/>
          </a:stretch>
        </p:blipFill>
        <p:spPr>
          <a:xfrm>
            <a:off x="8098790" y="3652520"/>
            <a:ext cx="3540760" cy="215900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8305800" y="5789295"/>
            <a:ext cx="323723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statista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统计，有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45%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的目标用户有养宠物的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爱好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0" name="图片 39" descr="宠物清理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7820" y="1430020"/>
            <a:ext cx="2826385" cy="1807210"/>
          </a:xfrm>
          <a:prstGeom prst="rect">
            <a:avLst/>
          </a:prstGeom>
        </p:spPr>
      </p:pic>
      <p:pic>
        <p:nvPicPr>
          <p:cNvPr id="41" name="图片 40" descr="除毛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4285" y="1435100"/>
            <a:ext cx="1485265" cy="180213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7890510" y="1099820"/>
            <a:ext cx="400177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用户关于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vacuumcleaner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的相关搜索中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清理宠物毛发的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居多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7579" y="0"/>
            <a:ext cx="1884045" cy="6858000"/>
            <a:chOff x="67579" y="0"/>
            <a:chExt cx="1884045" cy="6858000"/>
          </a:xfrm>
        </p:grpSpPr>
        <p:sp>
          <p:nvSpPr>
            <p:cNvPr id="6" name="Freeform 4"/>
            <p:cNvSpPr/>
            <p:nvPr/>
          </p:nvSpPr>
          <p:spPr>
            <a:xfrm flipV="1">
              <a:off x="365759" y="0"/>
              <a:ext cx="78377" cy="6858000"/>
            </a:xfrm>
            <a:prstGeom prst="rect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" name="Freeform 4"/>
            <p:cNvSpPr/>
            <p:nvPr/>
          </p:nvSpPr>
          <p:spPr>
            <a:xfrm>
              <a:off x="67579" y="137160"/>
              <a:ext cx="1428115" cy="26162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品牌市场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占比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" name="Freeform 4"/>
            <p:cNvSpPr/>
            <p:nvPr/>
          </p:nvSpPr>
          <p:spPr>
            <a:xfrm>
              <a:off x="67579" y="557530"/>
              <a:ext cx="1884045" cy="361950"/>
            </a:xfrm>
            <a:prstGeom prst="homePlate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用户画像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4"/>
            <p:cNvSpPr/>
            <p:nvPr/>
          </p:nvSpPr>
          <p:spPr>
            <a:xfrm>
              <a:off x="67579" y="1080770"/>
              <a:ext cx="1427480" cy="29718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竞品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分析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737360" y="1149985"/>
            <a:ext cx="391668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用户偏年轻化，集中在</a:t>
            </a: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Gen Z</a:t>
            </a: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和千禧一代</a:t>
            </a:r>
            <a:endParaRPr kumimoji="0" lang="zh-CN" altLang="en-US" sz="1400" b="1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521366" y="260956"/>
            <a:ext cx="91176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目标用户画像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欧洲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55510" y="1129030"/>
            <a:ext cx="438340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大部分用户都拥有自己的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住所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520578" y="1627300"/>
            <a:ext cx="5521357" cy="2069465"/>
            <a:chOff x="696" y="3193"/>
            <a:chExt cx="8848" cy="3444"/>
          </a:xfrm>
        </p:grpSpPr>
        <p:pic>
          <p:nvPicPr>
            <p:cNvPr id="18" name="图片 17" descr="C:/Users/suhuixin/Downloads/清洁市场/用户欧/GenZ.jpgGenZ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rcRect l="21101" t="21" r="21101" b="-21"/>
            <a:stretch>
              <a:fillRect/>
            </a:stretch>
          </p:blipFill>
          <p:spPr>
            <a:xfrm>
              <a:off x="696" y="3655"/>
              <a:ext cx="1610" cy="2424"/>
            </a:xfrm>
            <a:prstGeom prst="roundRect">
              <a:avLst/>
            </a:prstGeom>
          </p:spPr>
        </p:pic>
        <p:pic>
          <p:nvPicPr>
            <p:cNvPr id="13" name="图片 12" descr="C:/Users/suhuixin/Downloads/清洁市场/用户欧/genz.pnggenz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rcRect t="1284" b="1284"/>
            <a:stretch>
              <a:fillRect/>
            </a:stretch>
          </p:blipFill>
          <p:spPr>
            <a:xfrm>
              <a:off x="2381" y="3193"/>
              <a:ext cx="7163" cy="3444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>
            <p:custDataLst>
              <p:tags r:id="rId6"/>
            </p:custDataLst>
          </p:nvPr>
        </p:nvGrpSpPr>
        <p:grpSpPr>
          <a:xfrm>
            <a:off x="520774" y="4351114"/>
            <a:ext cx="5517141" cy="2111893"/>
            <a:chOff x="701" y="3100"/>
            <a:chExt cx="8771" cy="3410"/>
          </a:xfrm>
        </p:grpSpPr>
        <p:pic>
          <p:nvPicPr>
            <p:cNvPr id="21" name="图片 20" descr="C:/Users/suhuixin/Downloads/清洁市场/用户欧/收入1.png收入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rcRect l="32" t="610" r="-32" b="610"/>
            <a:stretch>
              <a:fillRect/>
            </a:stretch>
          </p:blipFill>
          <p:spPr>
            <a:xfrm>
              <a:off x="701" y="3456"/>
              <a:ext cx="1557" cy="2342"/>
            </a:xfrm>
            <a:prstGeom prst="roundRect">
              <a:avLst/>
            </a:prstGeom>
          </p:spPr>
        </p:pic>
        <p:pic>
          <p:nvPicPr>
            <p:cNvPr id="25" name="图片 24" descr="C:/Users/suhuixin/Downloads/清洁市场/用户欧/收入.png收入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rcRect l="7" t="1107" r="-7" b="1107"/>
            <a:stretch>
              <a:fillRect/>
            </a:stretch>
          </p:blipFill>
          <p:spPr>
            <a:xfrm>
              <a:off x="2380" y="3100"/>
              <a:ext cx="7092" cy="3410"/>
            </a:xfrm>
            <a:prstGeom prst="rect">
              <a:avLst/>
            </a:prstGeom>
          </p:spPr>
        </p:pic>
      </p:grpSp>
      <p:sp>
        <p:nvSpPr>
          <p:cNvPr id="27" name="文本框 26"/>
          <p:cNvSpPr txBox="1"/>
          <p:nvPr/>
        </p:nvSpPr>
        <p:spPr>
          <a:xfrm>
            <a:off x="1495425" y="3816985"/>
            <a:ext cx="391668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400" b="1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中高收入人群占比较大</a:t>
            </a:r>
            <a:endParaRPr kumimoji="0" lang="zh-CN" altLang="en-US" sz="1400" b="1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255510" y="3822700"/>
            <a:ext cx="50507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400" b="1" spc="1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相比美国，</a:t>
            </a:r>
            <a:r>
              <a:rPr lang="en-US" altLang="zh-CN" sz="1400" b="1" spc="1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Nuclear family</a:t>
            </a:r>
            <a:r>
              <a:rPr lang="zh-CN" altLang="en-US" sz="1400" b="1" spc="1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占有</a:t>
            </a:r>
            <a:r>
              <a:rPr lang="zh-CN" altLang="en-US" sz="1400" b="1" spc="1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更高比例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9" name="组合 28"/>
          <p:cNvGrpSpPr/>
          <p:nvPr>
            <p:custDataLst>
              <p:tags r:id="rId11"/>
            </p:custDataLst>
          </p:nvPr>
        </p:nvGrpSpPr>
        <p:grpSpPr>
          <a:xfrm>
            <a:off x="6608445" y="1597660"/>
            <a:ext cx="5475179" cy="2069465"/>
            <a:chOff x="1032" y="3187"/>
            <a:chExt cx="8774" cy="3444"/>
          </a:xfrm>
        </p:grpSpPr>
        <p:pic>
          <p:nvPicPr>
            <p:cNvPr id="49" name="图片 48" descr="C:/Users/suhuixin/Downloads/清洁市场/用户欧/住所1.png住所1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rcRect l="31" t="2452" r="-31" b="2452"/>
            <a:stretch>
              <a:fillRect/>
            </a:stretch>
          </p:blipFill>
          <p:spPr>
            <a:xfrm>
              <a:off x="1032" y="3781"/>
              <a:ext cx="1611" cy="2424"/>
            </a:xfrm>
            <a:prstGeom prst="roundRect">
              <a:avLst/>
            </a:prstGeom>
          </p:spPr>
        </p:pic>
        <p:pic>
          <p:nvPicPr>
            <p:cNvPr id="50" name="图片 49" descr="C:/Users/suhuixin/Downloads/清洁市场/用户欧/住所.png住所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rcRect l="-7" t="1612" r="7" b="1612"/>
            <a:stretch>
              <a:fillRect/>
            </a:stretch>
          </p:blipFill>
          <p:spPr>
            <a:xfrm>
              <a:off x="2643" y="3187"/>
              <a:ext cx="7163" cy="3444"/>
            </a:xfrm>
            <a:prstGeom prst="rect">
              <a:avLst/>
            </a:prstGeom>
          </p:spPr>
        </p:pic>
      </p:grpSp>
      <p:grpSp>
        <p:nvGrpSpPr>
          <p:cNvPr id="51" name="组合 50"/>
          <p:cNvGrpSpPr/>
          <p:nvPr>
            <p:custDataLst>
              <p:tags r:id="rId16"/>
            </p:custDataLst>
          </p:nvPr>
        </p:nvGrpSpPr>
        <p:grpSpPr>
          <a:xfrm>
            <a:off x="6561968" y="4360340"/>
            <a:ext cx="5521357" cy="2069465"/>
            <a:chOff x="696" y="3193"/>
            <a:chExt cx="8848" cy="3444"/>
          </a:xfrm>
        </p:grpSpPr>
        <p:pic>
          <p:nvPicPr>
            <p:cNvPr id="52" name="图片 51" descr="C:/Users/suhuixin/Downloads/清洁市场/用户画像us/nuclear.pngnuclear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rcRect l="-31" t="2081" r="31" b="2081"/>
            <a:stretch>
              <a:fillRect/>
            </a:stretch>
          </p:blipFill>
          <p:spPr>
            <a:xfrm>
              <a:off x="696" y="3655"/>
              <a:ext cx="1610" cy="2424"/>
            </a:xfrm>
            <a:prstGeom prst="roundRect">
              <a:avLst/>
            </a:prstGeom>
          </p:spPr>
        </p:pic>
        <p:pic>
          <p:nvPicPr>
            <p:cNvPr id="53" name="图片 52" descr="C:/Users/suhuixin/Downloads/清洁市场/用户欧/家庭.png家庭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rcRect t="1396" b="1396"/>
            <a:stretch>
              <a:fillRect/>
            </a:stretch>
          </p:blipFill>
          <p:spPr>
            <a:xfrm>
              <a:off x="2381" y="3193"/>
              <a:ext cx="7163" cy="344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7579" y="0"/>
            <a:ext cx="1728470" cy="6858000"/>
            <a:chOff x="67579" y="0"/>
            <a:chExt cx="1728470" cy="6858000"/>
          </a:xfrm>
        </p:grpSpPr>
        <p:sp>
          <p:nvSpPr>
            <p:cNvPr id="6" name="Freeform 4"/>
            <p:cNvSpPr/>
            <p:nvPr/>
          </p:nvSpPr>
          <p:spPr>
            <a:xfrm flipV="1">
              <a:off x="365759" y="0"/>
              <a:ext cx="78377" cy="6858000"/>
            </a:xfrm>
            <a:prstGeom prst="rect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" name="Freeform 4"/>
            <p:cNvSpPr/>
            <p:nvPr/>
          </p:nvSpPr>
          <p:spPr>
            <a:xfrm>
              <a:off x="67579" y="137160"/>
              <a:ext cx="1302385" cy="18542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品牌市场</a:t>
              </a: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占比</a:t>
              </a:r>
              <a:endPara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" name="Freeform 4"/>
            <p:cNvSpPr/>
            <p:nvPr/>
          </p:nvSpPr>
          <p:spPr>
            <a:xfrm>
              <a:off x="67579" y="408940"/>
              <a:ext cx="1728470" cy="287655"/>
            </a:xfrm>
            <a:prstGeom prst="homePlate">
              <a:avLst/>
            </a:prstGeom>
            <a:solidFill>
              <a:srgbClr val="FF4B34"/>
            </a:solidFill>
          </p:spPr>
          <p:txBody>
            <a:bodyPr anchor="ctr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用户画像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4"/>
            <p:cNvSpPr/>
            <p:nvPr/>
          </p:nvSpPr>
          <p:spPr>
            <a:xfrm>
              <a:off x="67579" y="798195"/>
              <a:ext cx="1128395" cy="18161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竞品</a:t>
              </a: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分析</a:t>
              </a:r>
              <a:endPara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2521366" y="260956"/>
            <a:ext cx="91176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目标用户需求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&amp;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关注点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欧洲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21335" y="3371215"/>
            <a:ext cx="32619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·Amazon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欧洲站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bestseller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有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“Energy Class A”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“quiet”“silence”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等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环保标签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 rot="0">
            <a:off x="809625" y="1245870"/>
            <a:ext cx="10015855" cy="3079667"/>
            <a:chOff x="699372" y="1174360"/>
            <a:chExt cx="10015757" cy="3079617"/>
          </a:xfrm>
        </p:grpSpPr>
        <p:sp>
          <p:nvSpPr>
            <p:cNvPr id="16" name="五边形 15"/>
            <p:cNvSpPr/>
            <p:nvPr/>
          </p:nvSpPr>
          <p:spPr>
            <a:xfrm>
              <a:off x="699372" y="1174360"/>
              <a:ext cx="4131269" cy="298445"/>
            </a:xfrm>
            <a:prstGeom prst="homePlate">
              <a:avLst/>
            </a:prstGeom>
            <a:blipFill>
              <a:blip r:embed="rId1"/>
              <a:stretch>
                <a:fillRect/>
              </a:stretch>
            </a:blipFill>
          </p:spPr>
          <p:txBody>
            <a:bodyPr wrap="square">
              <a:noAutofit/>
            </a:bodyPr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注重环保，偏向有环保认证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/</a:t>
              </a:r>
              <a:r>
                <a:rPr kumimoji="0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有静音设计的产品</a:t>
              </a:r>
              <a:endPara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>
              <a:off x="6597194" y="1174360"/>
              <a:ext cx="4117935" cy="306700"/>
            </a:xfrm>
            <a:prstGeom prst="chevron">
              <a:avLst/>
            </a:prstGeom>
            <a:blipFill>
              <a:blip r:embed="rId1"/>
              <a:stretch>
                <a:fillRect/>
              </a:stretch>
            </a:blipFill>
          </p:spPr>
          <p:txBody>
            <a:bodyPr wrap="square">
              <a:spAutoFit/>
            </a:bodyPr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品牌意识</a:t>
              </a:r>
              <a:r>
                <a:rPr kumimoji="0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较强，偏好品牌信誉好的产品</a:t>
              </a:r>
              <a:endPara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燕尾形 25"/>
            <p:cNvSpPr/>
            <p:nvPr/>
          </p:nvSpPr>
          <p:spPr>
            <a:xfrm>
              <a:off x="699621" y="3947277"/>
              <a:ext cx="3978622" cy="306700"/>
            </a:xfrm>
            <a:prstGeom prst="chevron">
              <a:avLst/>
            </a:prstGeom>
            <a:blipFill>
              <a:blip r:embed="rId1"/>
              <a:stretch>
                <a:fillRect/>
              </a:stretch>
            </a:blipFill>
          </p:spPr>
          <p:txBody>
            <a:bodyPr wrap="square">
              <a:spAutoFit/>
            </a:bodyPr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宠物毛发处理的需求大</a:t>
              </a:r>
              <a:endPara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3304540" y="3371215"/>
            <a:ext cx="2326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·Blue angle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是德国政府颁发的生态标签，当地用户偏向购买带有此标签的产品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302240" y="2185670"/>
            <a:ext cx="16973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statista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统计，在购买家电产品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时，品牌意识较强的用户大部分来自欧洲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国家。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 descr="环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90" y="1667510"/>
            <a:ext cx="2711450" cy="1761490"/>
          </a:xfrm>
          <a:prstGeom prst="rect">
            <a:avLst/>
          </a:prstGeom>
        </p:spPr>
      </p:pic>
      <p:pic>
        <p:nvPicPr>
          <p:cNvPr id="10" name="图片 9" descr="blueang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540" y="1667510"/>
            <a:ext cx="2113915" cy="1761490"/>
          </a:xfrm>
          <a:prstGeom prst="rect">
            <a:avLst/>
          </a:prstGeom>
        </p:spPr>
      </p:pic>
      <p:pic>
        <p:nvPicPr>
          <p:cNvPr id="11" name="图片 10" descr="毛发"/>
          <p:cNvPicPr>
            <a:picLocks noChangeAspect="1"/>
          </p:cNvPicPr>
          <p:nvPr/>
        </p:nvPicPr>
        <p:blipFill>
          <a:blip r:embed="rId4"/>
          <a:srcRect b="26393"/>
          <a:stretch>
            <a:fillRect/>
          </a:stretch>
        </p:blipFill>
        <p:spPr>
          <a:xfrm>
            <a:off x="593090" y="4512945"/>
            <a:ext cx="3522345" cy="1616710"/>
          </a:xfrm>
          <a:prstGeom prst="rect">
            <a:avLst/>
          </a:prstGeom>
        </p:spPr>
      </p:pic>
      <p:pic>
        <p:nvPicPr>
          <p:cNvPr id="13" name="图片 12" descr="品牌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970" y="1667510"/>
            <a:ext cx="3275330" cy="2051685"/>
          </a:xfrm>
          <a:prstGeom prst="rect">
            <a:avLst/>
          </a:prstGeom>
        </p:spPr>
      </p:pic>
      <p:sp>
        <p:nvSpPr>
          <p:cNvPr id="14" name="燕尾形 13"/>
          <p:cNvSpPr/>
          <p:nvPr/>
        </p:nvSpPr>
        <p:spPr>
          <a:xfrm>
            <a:off x="6707754" y="4018832"/>
            <a:ext cx="3978661" cy="306704"/>
          </a:xfrm>
          <a:prstGeom prst="chevron">
            <a:avLst/>
          </a:prstGeom>
          <a:blipFill>
            <a:blip r:embed="rId1"/>
            <a:stretch>
              <a:fillRect/>
            </a:stretch>
          </a:blipFill>
        </p:spPr>
        <p:txBody>
          <a:bodyPr wrap="square">
            <a:spAutoFit/>
          </a:bodyPr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注重功能的多样性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5" name="图片 14" descr="功能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1970" y="4402455"/>
            <a:ext cx="3065145" cy="196469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196715" y="4813935"/>
            <a:ext cx="162052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·Amazon uk/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德国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荷兰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法国等站点的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bestseller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大部分都带有去毛功能。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080625" y="4877435"/>
            <a:ext cx="16973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·AnswerThePublic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上，用户关注点词云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“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吸尘器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&amp;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拖把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&amp;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地毯清洁器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&amp;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扫把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”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等词结合居多。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2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3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4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5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6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7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8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9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10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11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12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13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14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15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16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17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18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19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20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21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22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23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24.xml><?xml version="1.0" encoding="utf-8"?>
<p:tagLst xmlns:p="http://schemas.openxmlformats.org/presentationml/2006/main">
  <p:tag name="KSO_WM_DIAGRAM_VIRTUALLY_FRAME" val="{&quot;height&quot;:382.95,&quot;left&quot;:51.6,&quot;top&quot;:127.85,&quot;width&quot;:463.4}"/>
</p:tagLst>
</file>

<file path=ppt/tags/tag25.xml><?xml version="1.0" encoding="utf-8"?>
<p:tagLst xmlns:p="http://schemas.openxmlformats.org/presentationml/2006/main">
  <p:tag name="resource_record_key" val="{&quot;8&quot;:[20475957]}"/>
</p:tagLst>
</file>

<file path=ppt/theme/theme1.xml><?xml version="1.0" encoding="utf-8"?>
<a:theme xmlns:a="http://schemas.openxmlformats.org/drawingml/2006/main" name="1_Office 主题​​">
  <a:themeElements>
    <a:clrScheme name="自定义 7">
      <a:dk1>
        <a:sysClr val="windowText" lastClr="000000"/>
      </a:dk1>
      <a:lt1>
        <a:sysClr val="window" lastClr="FFFFFF"/>
      </a:lt1>
      <a:dk2>
        <a:srgbClr val="222A35"/>
      </a:dk2>
      <a:lt2>
        <a:srgbClr val="DBEFF9"/>
      </a:lt2>
      <a:accent1>
        <a:srgbClr val="F53F2D"/>
      </a:accent1>
      <a:accent2>
        <a:srgbClr val="FE6232"/>
      </a:accent2>
      <a:accent3>
        <a:srgbClr val="7BDF9B"/>
      </a:accent3>
      <a:accent4>
        <a:srgbClr val="25AE9E"/>
      </a:accent4>
      <a:accent5>
        <a:srgbClr val="FC9783"/>
      </a:accent5>
      <a:accent6>
        <a:srgbClr val="FB7598"/>
      </a:accent6>
      <a:hlink>
        <a:srgbClr val="F49100"/>
      </a:hlink>
      <a:folHlink>
        <a:srgbClr val="85DFD0"/>
      </a:folHlink>
    </a:clrScheme>
    <a:fontScheme name="自定义 7">
      <a:majorFont>
        <a:latin typeface="微软雅黑 Bold"/>
        <a:ea typeface="微软雅黑 Bold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>
        <a:spAutoFit/>
      </a:bodyPr>
      <a:lstStyle>
        <a:defPPr algn="l">
          <a:defRPr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</Words>
  <Application>WPS 演示</Application>
  <PresentationFormat>宽屏</PresentationFormat>
  <Paragraphs>121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等线 Light</vt:lpstr>
      <vt:lpstr>等线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Evonne</cp:lastModifiedBy>
  <cp:revision>174</cp:revision>
  <dcterms:created xsi:type="dcterms:W3CDTF">2019-06-19T02:08:00Z</dcterms:created>
  <dcterms:modified xsi:type="dcterms:W3CDTF">2025-03-13T06:21:27Z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524C88216E4E4C39B8B0F22F4A3054E8_11</vt:lpwstr>
  </property>
</Properties>
</file>